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Quick intro and ask.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Explain pain and anecdote.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How model and marketplace reduce friction.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Market sizing notes.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Revenue levers.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Channels &amp; early traction plan.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High level financial assumptions.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MicroLoans for Indian MSMEs — faster capital, smarter underwriting.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An AI-driven marketplace connecting MSMEs in India to micro-lenders with instant credit decisions using transaction and GST signals — reducing friction and empowering growth.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AI micro-loans marketplace for Indian MSMEs</a:t>
            </a:r>
          </a:p>
          <a:p>
            <a:pPr>
              <a:defRPr sz="1800"/>
            </a:pPr>
            <a:r>
              <a:t>Founder(s): Srikar M (example)</a:t>
            </a:r>
          </a:p>
          <a:p>
            <a:pPr>
              <a:defRPr sz="1800"/>
            </a:pPr>
            <a:r>
              <a:t>Ask: ₹5 Cr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MSMEs face slow access to credit</a:t>
            </a:r>
          </a:p>
          <a:p>
            <a:pPr>
              <a:defRPr sz="1800"/>
            </a:pPr>
            <a:r>
              <a:t>Traditional underwriting ignores alternative signals</a:t>
            </a:r>
          </a:p>
          <a:p>
            <a:pPr>
              <a:defRPr sz="1800"/>
            </a:pPr>
            <a:r>
              <a:t>High paperwork &amp; time to disburse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Solution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AI risk-scoring using GST &amp; transaction data</a:t>
            </a:r>
          </a:p>
          <a:p>
            <a:pPr>
              <a:defRPr sz="1800"/>
            </a:pPr>
            <a:r>
              <a:t>Marketplace of lenders with dynamic pricing</a:t>
            </a:r>
          </a:p>
          <a:p>
            <a:pPr>
              <a:defRPr sz="1800"/>
            </a:pPr>
            <a:r>
              <a:t>Paperless onboarding &amp; instant disbursal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Market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Addressable: 6M formal MSMEs in India</a:t>
            </a:r>
          </a:p>
          <a:p>
            <a:pPr>
              <a:defRPr sz="1800"/>
            </a:pPr>
            <a:r>
              <a:t>Initial TAM (servicable): 1M in urban clusters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Business Model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Platform takes 1-3% origination fee</a:t>
            </a:r>
          </a:p>
          <a:p>
            <a:pPr>
              <a:defRPr sz="1800"/>
            </a:pPr>
            <a:r>
              <a:t>Subscription for premium lender analytics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/>
            </a:pPr>
            <a:r>
              <a:t>Go-to-Market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371600"/>
          <a:ext cx="822960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/>
                <a:gridCol w="2057400"/>
                <a:gridCol w="2057400"/>
                <a:gridCol w="2057400"/>
              </a:tblGrid>
              <a:tr h="800100">
                <a:tc>
                  <a:txBody>
                    <a:bodyPr/>
                    <a:lstStyle/>
                    <a:p>
                      <a:r>
                        <a:t>Year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Revenue (INR Lakhs)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Cost (INR Lakhs)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Profit (INR Lakhs)</a:t>
                      </a:r>
                    </a:p>
                  </a:txBody>
                  <a:tcPr/>
                </a:tc>
              </a:tr>
              <a:tr h="800100">
                <a:tc>
                  <a:txBody>
                    <a:bodyPr/>
                    <a:lstStyle/>
                    <a:p>
                      <a:r>
                        <a:t>2026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120.0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80.0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40.0</a:t>
                      </a:r>
                    </a:p>
                  </a:txBody>
                  <a:tcPr/>
                </a:tc>
              </a:tr>
              <a:tr h="800100">
                <a:tc>
                  <a:txBody>
                    <a:bodyPr/>
                    <a:lstStyle/>
                    <a:p>
                      <a:r>
                        <a:t>2027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360.0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240.0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120.0</a:t>
                      </a:r>
                    </a:p>
                  </a:txBody>
                  <a:tcPr/>
                </a:tc>
              </a:tr>
              <a:tr h="800100">
                <a:tc>
                  <a:txBody>
                    <a:bodyPr/>
                    <a:lstStyle/>
                    <a:p>
                      <a:r>
                        <a:t>2028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900.0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600.0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300.0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/>
            </a:pPr>
            <a:r>
              <a:t>Financials (3-year)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371600"/>
          <a:ext cx="822960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/>
                <a:gridCol w="2057400"/>
                <a:gridCol w="2057400"/>
                <a:gridCol w="2057400"/>
              </a:tblGrid>
              <a:tr h="800100">
                <a:tc>
                  <a:txBody>
                    <a:bodyPr/>
                    <a:lstStyle/>
                    <a:p>
                      <a:r>
                        <a:t>Year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Revenue (INR Lakhs)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Cost (INR Lakhs)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Profit (INR Lakhs)</a:t>
                      </a:r>
                    </a:p>
                  </a:txBody>
                  <a:tcPr/>
                </a:tc>
              </a:tr>
              <a:tr h="800100">
                <a:tc>
                  <a:txBody>
                    <a:bodyPr/>
                    <a:lstStyle/>
                    <a:p>
                      <a:r>
                        <a:t>2026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120.0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80.0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40.0</a:t>
                      </a:r>
                    </a:p>
                  </a:txBody>
                  <a:tcPr/>
                </a:tc>
              </a:tr>
              <a:tr h="800100">
                <a:tc>
                  <a:txBody>
                    <a:bodyPr/>
                    <a:lstStyle/>
                    <a:p>
                      <a:r>
                        <a:t>2027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360.0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240.0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120.0</a:t>
                      </a:r>
                    </a:p>
                  </a:txBody>
                  <a:tcPr/>
                </a:tc>
              </a:tr>
              <a:tr h="800100">
                <a:tc>
                  <a:txBody>
                    <a:bodyPr/>
                    <a:lstStyle/>
                    <a:p>
                      <a:r>
                        <a:t>2028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900.0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600.0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300.0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